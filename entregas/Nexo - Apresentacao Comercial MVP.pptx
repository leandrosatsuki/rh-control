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Custo x Faturamento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Faturamento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1908</c:v>
                </c:pt>
                <c:pt idx="1">
                  <c:v>1434</c:v>
                </c:pt>
                <c:pt idx="2">
                  <c:v>1662</c:v>
                </c:pt>
                <c:pt idx="3">
                  <c:v>1747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183</c:v>
                </c:pt>
                <c:pt idx="1">
                  <c:v>171</c:v>
                </c:pt>
                <c:pt idx="2">
                  <c:v>157</c:v>
                </c:pt>
                <c:pt idx="3">
                  <c:v>155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6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o-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4023360" cy="12070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2148840"/>
            <a:ext cx="7040880" cy="59436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Controle de pessoas, custos e indicadores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852928"/>
            <a:ext cx="6766560" cy="7315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800" b="0">
                <a:solidFill>
                  <a:srgbClr val="D9E3EF"/>
                </a:solidFill>
                <a:latin typeface="Segoe UI"/>
              </a:rPr>
              <a:t>MVP funcional para substituir controles fragmentados em planilhas por uma base gerencial organizada.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416052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4288536"/>
            <a:ext cx="1783080" cy="201168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900" b="1">
                <a:solidFill>
                  <a:srgbClr val="687386"/>
                </a:solidFill>
                <a:latin typeface="Segoe UI"/>
              </a:rPr>
              <a:t>INVESTIMENTO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4572000"/>
            <a:ext cx="1783080" cy="329184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Segoe UI"/>
              </a:rPr>
              <a:t>R$ 4.000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9232" y="416052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36391" y="4288536"/>
            <a:ext cx="1783080" cy="201168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900" b="1">
                <a:solidFill>
                  <a:srgbClr val="687386"/>
                </a:solidFill>
                <a:latin typeface="Segoe UI"/>
              </a:rPr>
              <a:t>ENTREGA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1" y="4572000"/>
            <a:ext cx="1783080" cy="329184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Segoe UI"/>
              </a:rPr>
              <a:t>Demo + 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48656" y="416052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85816" y="4288536"/>
            <a:ext cx="1783080" cy="201168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900" b="1">
                <a:solidFill>
                  <a:srgbClr val="687386"/>
                </a:solidFill>
                <a:latin typeface="Segoe UI"/>
              </a:rPr>
              <a:t>FOCO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85816" y="4572000"/>
            <a:ext cx="1783080" cy="329184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Segoe UI"/>
              </a:rPr>
              <a:t>Controle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6016752"/>
            <a:ext cx="4754880" cy="2743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D9E3EF"/>
                </a:solidFill>
                <a:latin typeface="Segoe UI"/>
              </a:rPr>
              <a:t>Proposta comercial do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046720" cy="3200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Por que o Nexo faz sentido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8046720" cy="2743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500" b="0">
                <a:solidFill>
                  <a:srgbClr val="687386"/>
                </a:solidFill>
                <a:latin typeface="Segoe UI"/>
              </a:rPr>
              <a:t>O cliente precisa de controle, não de geração completa de folha.</a:t>
            </a:r>
          </a:p>
        </p:txBody>
      </p:sp>
      <p:pic>
        <p:nvPicPr>
          <p:cNvPr id="5" name="Picture 4" descr="nexo-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73152"/>
            <a:ext cx="1874519" cy="5623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00200"/>
            <a:ext cx="2980944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Dor atual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47672"/>
            <a:ext cx="2980944" cy="7772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Informações importantes ficam espalhadas em planilhas, sem fluxo único para custos, benefícios, alertas e histórico.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600200"/>
            <a:ext cx="2980944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</a:rPr>
              <a:t>Resposta do 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1947672"/>
            <a:ext cx="2980944" cy="7772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Organizar a base por empresa, competência, colaborador, Centro de Resultado e modalidade.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600200"/>
            <a:ext cx="2980944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Segoe UI"/>
              </a:rPr>
              <a:t>Valor prático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1947672"/>
            <a:ext cx="2980944" cy="7772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Dar visão gerencial, rastreabilidade e relatórios antes de avançar para automações mais complexas.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1005840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62033"/>
                </a:solidFill>
                <a:latin typeface="Segoe UI"/>
              </a:defRPr>
            </a:pPr>
            <a:r>
              <a:t>Centraliza dados operacionais e financeiros.</a:t>
            </a:r>
          </a:p>
          <a:p>
            <a:pPr>
              <a:spcAft>
                <a:spcPts val="800"/>
              </a:spcAft>
              <a:defRPr sz="2000">
                <a:solidFill>
                  <a:srgbClr val="162033"/>
                </a:solidFill>
                <a:latin typeface="Segoe UI"/>
              </a:defRPr>
            </a:pPr>
            <a:r>
              <a:t>Reduz retrabalho em conferências mensais.</a:t>
            </a:r>
          </a:p>
          <a:p>
            <a:pPr>
              <a:spcAft>
                <a:spcPts val="800"/>
              </a:spcAft>
              <a:defRPr sz="2000">
                <a:solidFill>
                  <a:srgbClr val="162033"/>
                </a:solidFill>
                <a:latin typeface="Segoe UI"/>
              </a:defRPr>
            </a:pPr>
            <a:r>
              <a:t>Cria base confiável para indicadores.</a:t>
            </a:r>
          </a:p>
          <a:p>
            <a:pPr>
              <a:spcAft>
                <a:spcPts val="800"/>
              </a:spcAft>
              <a:defRPr sz="2000">
                <a:solidFill>
                  <a:srgbClr val="162033"/>
                </a:solidFill>
                <a:latin typeface="Segoe UI"/>
              </a:defRPr>
            </a:pPr>
            <a:r>
              <a:t>Permite evolução por fases sem jogar fora o MVP.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046720" cy="3200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Escopo entregue no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8046720" cy="2743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500" b="0">
                <a:solidFill>
                  <a:srgbClr val="687386"/>
                </a:solidFill>
                <a:latin typeface="Segoe UI"/>
              </a:rPr>
              <a:t>Módulos principais que compõem a proposta.</a:t>
            </a:r>
          </a:p>
        </p:txBody>
      </p:sp>
      <p:pic>
        <p:nvPicPr>
          <p:cNvPr id="5" name="Picture 4" descr="nexo-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73152"/>
            <a:ext cx="1874519" cy="5623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234440"/>
            <a:ext cx="34290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17320"/>
            <a:ext cx="3026664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</a:rPr>
              <a:t>Multiempresas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64792"/>
            <a:ext cx="3026664" cy="43891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Empresas separadas e visão consolidada.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234440"/>
            <a:ext cx="34290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17320"/>
            <a:ext cx="3026664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Segoe UI"/>
              </a:rPr>
              <a:t>Colaboradores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764792"/>
            <a:ext cx="3026664" cy="43891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CPF/CNPJ, matrícula, supervisor, CEP, banco e PIX.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38744" y="1234440"/>
            <a:ext cx="34290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417320"/>
            <a:ext cx="3026664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Custo / Folha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1764792"/>
            <a:ext cx="3026664" cy="43891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Remuneração, benefícios, encargos, provisões e total.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651760"/>
            <a:ext cx="34290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34640"/>
            <a:ext cx="3026664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Segoe UI"/>
              </a:rPr>
              <a:t>Benefícios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182112"/>
            <a:ext cx="3026664" cy="43891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Distribuição em lote, ajustes individuais e exportação.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6552" y="2651760"/>
            <a:ext cx="34290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2834640"/>
            <a:ext cx="3026664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</a:rPr>
              <a:t>Indicadores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182112"/>
            <a:ext cx="3026664" cy="43891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Custo, turnover, absenteísmo e comparação por CR.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38744" y="2651760"/>
            <a:ext cx="34290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2834640"/>
            <a:ext cx="3026664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Segoe UI"/>
              </a:rPr>
              <a:t>Relatório Maker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3182112"/>
            <a:ext cx="3026664" cy="43891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Modelos personalizados e filtros por período.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069080"/>
            <a:ext cx="34290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251960"/>
            <a:ext cx="3026664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Contratos MEI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599432"/>
            <a:ext cx="3026664" cy="43891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Vigência, assinatura, anexo e alertas.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6552" y="4069080"/>
            <a:ext cx="34290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251960"/>
            <a:ext cx="3026664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Segoe UI"/>
              </a:rPr>
              <a:t>Auditoria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599432"/>
            <a:ext cx="3026664" cy="43891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Registro de ações e alterações do usuário.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38744" y="4069080"/>
            <a:ext cx="34290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4251960"/>
            <a:ext cx="3026664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</a:rPr>
              <a:t>Ajustes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9912" y="4599432"/>
            <a:ext cx="3026664" cy="43891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Usuários, cargos, logo, CR, modalidades e backup.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046720" cy="3200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Multiempresas e Centros de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8046720" cy="2743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500" b="0">
                <a:solidFill>
                  <a:srgbClr val="687386"/>
                </a:solidFill>
                <a:latin typeface="Segoe UI"/>
              </a:rPr>
              <a:t>A leitura pode ser consolidada ou por empresa.</a:t>
            </a:r>
          </a:p>
        </p:txBody>
      </p:sp>
      <p:pic>
        <p:nvPicPr>
          <p:cNvPr id="5" name="Picture 4" descr="nexo-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73152"/>
            <a:ext cx="1874519" cy="5623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325880"/>
            <a:ext cx="493776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Filtro de empresa com visão de Todas Empresas.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Configurações por empresa, incluindo logo, jornada e encargos.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Centros de Resultado ADM, IND, COM e DIR.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Base preparada para matriz, filial e empresas independentes.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52160" y="1325880"/>
          <a:ext cx="5303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371600"/>
                <a:gridCol w="1371600"/>
                <a:gridCol w="1280160"/>
              </a:tblGrid>
              <a:tr h="47548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</a:t>
                      </a:r>
                    </a:p>
                  </a:txBody>
                  <a:tcPr>
                    <a:solidFill>
                      <a:srgbClr val="17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Custo</a:t>
                      </a:r>
                    </a:p>
                  </a:txBody>
                  <a:tcPr>
                    <a:solidFill>
                      <a:srgbClr val="17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Turnover</a:t>
                      </a:r>
                    </a:p>
                  </a:txBody>
                  <a:tcPr>
                    <a:solidFill>
                      <a:srgbClr val="17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Absenteísmo</a:t>
                      </a:r>
                    </a:p>
                  </a:txBody>
                  <a:tcPr>
                    <a:solidFill>
                      <a:srgbClr val="173B6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ADM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R$ 183 mil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1,47%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9,94%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R$ 171 mil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14,29%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5,75%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R$ 157 mil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5,56%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6,40%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DIR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R$ 154 mil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3,70%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0" y="4251960"/>
            <a:ext cx="5029200" cy="9144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700" b="0">
                <a:solidFill>
                  <a:srgbClr val="687386"/>
                </a:solidFill>
                <a:latin typeface="Segoe UI"/>
              </a:rPr>
              <a:t>A lógica do sistema acompanha a operação real: o cliente pode enxergar separado quando precisa e consolidado quando quer visão executiva.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046720" cy="3200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Cadastro de colaboradores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8046720" cy="2743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500" b="0">
                <a:solidFill>
                  <a:srgbClr val="687386"/>
                </a:solidFill>
                <a:latin typeface="Segoe UI"/>
              </a:rPr>
              <a:t>Cadastro mais seguro e pronto para controle.</a:t>
            </a:r>
          </a:p>
        </p:txBody>
      </p:sp>
      <p:pic>
        <p:nvPicPr>
          <p:cNvPr id="5" name="Picture 4" descr="nexo-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73152"/>
            <a:ext cx="1874519" cy="5623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234440"/>
            <a:ext cx="585216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62033"/>
                </a:solidFill>
                <a:latin typeface="Segoe UI"/>
              </a:defRPr>
            </a:pPr>
            <a:r>
              <a:t>CPF/CNPJ com validação e duplicidade em tempo de cadastro.</a:t>
            </a:r>
          </a:p>
          <a:p>
            <a:pPr>
              <a:spcAft>
                <a:spcPts val="800"/>
              </a:spcAft>
              <a:defRPr sz="1700">
                <a:solidFill>
                  <a:srgbClr val="162033"/>
                </a:solidFill>
                <a:latin typeface="Segoe UI"/>
              </a:defRPr>
            </a:pPr>
            <a:r>
              <a:t>Matrícula automática usando a sigla do Centro de Resultado.</a:t>
            </a:r>
          </a:p>
          <a:p>
            <a:pPr>
              <a:spcAft>
                <a:spcPts val="800"/>
              </a:spcAft>
              <a:defRPr sz="1700">
                <a:solidFill>
                  <a:srgbClr val="162033"/>
                </a:solidFill>
                <a:latin typeface="Segoe UI"/>
              </a:defRPr>
            </a:pPr>
            <a:r>
              <a:t>Supervisor por lista de pessoas com cargo de supervisor.</a:t>
            </a:r>
          </a:p>
          <a:p>
            <a:pPr>
              <a:spcAft>
                <a:spcPts val="800"/>
              </a:spcAft>
              <a:defRPr sz="1700">
                <a:solidFill>
                  <a:srgbClr val="162033"/>
                </a:solidFill>
                <a:latin typeface="Segoe UI"/>
              </a:defRPr>
            </a:pPr>
            <a:r>
              <a:t>Cargo/função administrado em configurações.</a:t>
            </a:r>
          </a:p>
          <a:p>
            <a:pPr>
              <a:spcAft>
                <a:spcPts val="800"/>
              </a:spcAft>
              <a:defRPr sz="1700">
                <a:solidFill>
                  <a:srgbClr val="162033"/>
                </a:solidFill>
                <a:latin typeface="Segoe UI"/>
              </a:defRPr>
            </a:pPr>
            <a:r>
              <a:t>CEP com preenchimento automático e campos bloqueados.</a:t>
            </a:r>
          </a:p>
          <a:p>
            <a:pPr>
              <a:spcAft>
                <a:spcPts val="800"/>
              </a:spcAft>
              <a:defRPr sz="1700">
                <a:solidFill>
                  <a:srgbClr val="162033"/>
                </a:solidFill>
                <a:latin typeface="Segoe UI"/>
              </a:defRPr>
            </a:pPr>
            <a:r>
              <a:t>PIX obrigatório e validado por tipo.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417320"/>
            <a:ext cx="4297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04888" y="1600200"/>
            <a:ext cx="3895344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Segoe UI"/>
              </a:rPr>
              <a:t>Histórico preservado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4888" y="1947672"/>
            <a:ext cx="3895344" cy="6858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A estrutura mantém informações históricas para evitar que ajustes atuais apaguem leituras antigas.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3063240"/>
            <a:ext cx="4297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04888" y="3246120"/>
            <a:ext cx="3895344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</a:rPr>
              <a:t>Dados bancários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4888" y="3593592"/>
            <a:ext cx="3895344" cy="6858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Banco, agência, conta, dígito e chave PIX ficam no cadastro do colaborador.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4709160"/>
            <a:ext cx="4297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8" y="4892040"/>
            <a:ext cx="3895344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Benefícios elegíveis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5239512"/>
            <a:ext cx="3895344" cy="6858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O colaborador só aparece em lançamentos compatíveis com os benefícios marcados no cadastro.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046720" cy="3200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Custo / Folha gerencial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8046720" cy="2743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500" b="0">
                <a:solidFill>
                  <a:srgbClr val="687386"/>
                </a:solidFill>
                <a:latin typeface="Segoe UI"/>
              </a:rPr>
              <a:t>Controle de custo mensal, sem substituir a folha oficial.</a:t>
            </a:r>
          </a:p>
        </p:txBody>
      </p:sp>
      <p:pic>
        <p:nvPicPr>
          <p:cNvPr id="5" name="Picture 4" descr="nexo-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73152"/>
            <a:ext cx="1874519" cy="5623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234440"/>
            <a:ext cx="521208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62033"/>
                </a:solidFill>
                <a:latin typeface="Segoe UI"/>
              </a:defRPr>
            </a:pPr>
            <a:r>
              <a:t>Colaborador, Centro de Resultado e modalidade.</a:t>
            </a:r>
          </a:p>
          <a:p>
            <a:pPr>
              <a:spcAft>
                <a:spcPts val="800"/>
              </a:spcAft>
              <a:defRPr sz="1700">
                <a:solidFill>
                  <a:srgbClr val="162033"/>
                </a:solidFill>
                <a:latin typeface="Segoe UI"/>
              </a:defRPr>
            </a:pPr>
            <a:r>
              <a:t>Salário, pró-labore, lucro, ajuda de custo e benefícios.</a:t>
            </a:r>
          </a:p>
          <a:p>
            <a:pPr>
              <a:spcAft>
                <a:spcPts val="800"/>
              </a:spcAft>
              <a:defRPr sz="1700">
                <a:solidFill>
                  <a:srgbClr val="162033"/>
                </a:solidFill>
                <a:latin typeface="Segoe UI"/>
              </a:defRPr>
            </a:pPr>
            <a:r>
              <a:t>INSS, RAT, Terceiros, FGTS e total de encargos.</a:t>
            </a:r>
          </a:p>
          <a:p>
            <a:pPr>
              <a:spcAft>
                <a:spcPts val="800"/>
              </a:spcAft>
              <a:defRPr sz="1700">
                <a:solidFill>
                  <a:srgbClr val="162033"/>
                </a:solidFill>
                <a:latin typeface="Segoe UI"/>
              </a:defRPr>
            </a:pPr>
            <a:r>
              <a:t>Férias, 13º, aviso, multa FGTS, patronal e total de provisões.</a:t>
            </a:r>
          </a:p>
          <a:p>
            <a:pPr>
              <a:spcAft>
                <a:spcPts val="800"/>
              </a:spcAft>
              <a:defRPr sz="1700">
                <a:solidFill>
                  <a:srgbClr val="162033"/>
                </a:solidFill>
                <a:latin typeface="Segoe UI"/>
              </a:defRPr>
            </a:pPr>
            <a:r>
              <a:t>Total geral e exportação para Excel.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72200" y="1417320"/>
          <a:ext cx="507492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5257800"/>
            <a:ext cx="4846320" cy="6858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600" b="0">
                <a:solidFill>
                  <a:srgbClr val="687386"/>
                </a:solidFill>
                <a:latin typeface="Segoe UI"/>
              </a:rPr>
              <a:t>A tela foi desenhada para conferência e controle financeiro, com modo de edição para pontos permitidos.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046720" cy="3200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Benefícios e fechamento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8046720" cy="2743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500" b="0">
                <a:solidFill>
                  <a:srgbClr val="687386"/>
                </a:solidFill>
                <a:latin typeface="Segoe UI"/>
              </a:rPr>
              <a:t>Distribuição prática e controle de pendências.</a:t>
            </a:r>
          </a:p>
        </p:txBody>
      </p:sp>
      <p:pic>
        <p:nvPicPr>
          <p:cNvPr id="5" name="Picture 4" descr="nexo-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73152"/>
            <a:ext cx="1874519" cy="5623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2344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17320"/>
            <a:ext cx="3026664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</a:rPr>
              <a:t>Distribuição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764792"/>
            <a:ext cx="3026664" cy="7772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Vale transporte, alimentação, plano de saúde e seguro de vida por competência.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417320"/>
            <a:ext cx="3026664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Segoe UI"/>
              </a:rPr>
              <a:t>Filtros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764792"/>
            <a:ext cx="3026664" cy="7772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Modalidade, UF, CR, supervisor e colaboradores elegíveis conforme cadastro.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417320"/>
            <a:ext cx="3026664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Ajustes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1764792"/>
            <a:ext cx="3026664" cy="7772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Lote com dias/valor e ajuste individual por colaborador.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29000"/>
            <a:ext cx="100584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62033"/>
                </a:solidFill>
                <a:latin typeface="Segoe UI"/>
              </a:defRPr>
            </a:pPr>
            <a:r>
              <a:t>Plano de saúde permite dependente e valor adicional.</a:t>
            </a:r>
          </a:p>
          <a:p>
            <a:pPr>
              <a:spcAft>
                <a:spcPts val="800"/>
              </a:spcAft>
              <a:defRPr sz="1900">
                <a:solidFill>
                  <a:srgbClr val="162033"/>
                </a:solidFill>
                <a:latin typeface="Segoe UI"/>
              </a:defRPr>
            </a:pPr>
            <a:r>
              <a:t>Ao confirmar, alimenta custo/folha e relatórios.</a:t>
            </a:r>
          </a:p>
          <a:p>
            <a:pPr>
              <a:spcAft>
                <a:spcPts val="800"/>
              </a:spcAft>
              <a:defRPr sz="1900">
                <a:solidFill>
                  <a:srgbClr val="162033"/>
                </a:solidFill>
                <a:latin typeface="Segoe UI"/>
              </a:defRPr>
            </a:pPr>
            <a:r>
              <a:t>Fechamento bloqueia pendências sem justificativa.</a:t>
            </a:r>
          </a:p>
          <a:p>
            <a:pPr>
              <a:spcAft>
                <a:spcPts val="800"/>
              </a:spcAft>
              <a:defRPr sz="1900">
                <a:solidFill>
                  <a:srgbClr val="162033"/>
                </a:solidFill>
                <a:latin typeface="Segoe UI"/>
              </a:defRPr>
            </a:pPr>
            <a:r>
              <a:t>Exportação em Excel/PDF para conferência.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046720" cy="3200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Indicadores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8046720" cy="2743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500" b="0">
                <a:solidFill>
                  <a:srgbClr val="687386"/>
                </a:solidFill>
                <a:latin typeface="Segoe UI"/>
              </a:rPr>
              <a:t>Layout inspirado na planilha de referência do cliente.</a:t>
            </a:r>
          </a:p>
        </p:txBody>
      </p:sp>
      <p:pic>
        <p:nvPicPr>
          <p:cNvPr id="5" name="Picture 4" descr="nexo-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73152"/>
            <a:ext cx="1874519" cy="5623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280160"/>
            <a:ext cx="493776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Custo total com provisões.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Custo x faturamento com edição de faturamento.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Turnover e absenteísmo por competência.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Comparativo por Centro de Resultado.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Modo de apresentação em tela ampliada.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06440" y="1234440"/>
          <a:ext cx="53035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371600"/>
                <a:gridCol w="1371600"/>
                <a:gridCol w="1280160"/>
              </a:tblGrid>
              <a:tr h="4663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</a:t>
                      </a:r>
                    </a:p>
                  </a:txBody>
                  <a:tcPr>
                    <a:solidFill>
                      <a:srgbClr val="17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Custo</a:t>
                      </a:r>
                    </a:p>
                  </a:txBody>
                  <a:tcPr>
                    <a:solidFill>
                      <a:srgbClr val="17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Turnover</a:t>
                      </a:r>
                    </a:p>
                  </a:txBody>
                  <a:tcPr>
                    <a:solidFill>
                      <a:srgbClr val="173B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Absenteísmo</a:t>
                      </a:r>
                    </a:p>
                  </a:txBody>
                  <a:tcPr>
                    <a:solidFill>
                      <a:srgbClr val="173B6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ADM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R$ 183 mil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1,47%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9,94%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R$ 171 mil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14,29%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5,75%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R$ 157 mil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5,56%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6,40%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DIR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R$ 154 mil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0,00%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62033"/>
                          </a:solidFill>
                          <a:latin typeface="Segoe UI"/>
                        </a:defRPr>
                      </a:pPr>
                      <a:r>
                        <a:t>3,70%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852160" y="3977639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4105655"/>
            <a:ext cx="1783080" cy="201168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900" b="1">
                <a:solidFill>
                  <a:srgbClr val="687386"/>
                </a:solidFill>
                <a:latin typeface="Segoe UI"/>
              </a:rPr>
              <a:t>META TURNOVER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4389120"/>
            <a:ext cx="1783080" cy="329184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Segoe UI"/>
              </a:rPr>
              <a:t>5,00%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3977639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4105655"/>
            <a:ext cx="1783080" cy="201168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900" b="1">
                <a:solidFill>
                  <a:srgbClr val="687386"/>
                </a:solidFill>
                <a:latin typeface="Segoe UI"/>
              </a:rPr>
              <a:t>META ABSENTEÍSMO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2" y="4389120"/>
            <a:ext cx="1783080" cy="329184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Segoe UI"/>
              </a:rPr>
              <a:t>10,00%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516636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5294376"/>
            <a:ext cx="1783080" cy="201168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900" b="1">
                <a:solidFill>
                  <a:srgbClr val="687386"/>
                </a:solidFill>
                <a:latin typeface="Segoe UI"/>
              </a:rPr>
              <a:t>CRs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5577840"/>
            <a:ext cx="1783080" cy="329184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Segoe UI"/>
              </a:rPr>
              <a:t>ADM IND COM DIR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046720" cy="3200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Relatórios e Relatório Maker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8046720" cy="2743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500" b="0">
                <a:solidFill>
                  <a:srgbClr val="687386"/>
                </a:solidFill>
                <a:latin typeface="Segoe UI"/>
              </a:rPr>
              <a:t>Além de relatórios fixos, o cliente monta suas próprias visões.</a:t>
            </a:r>
          </a:p>
        </p:txBody>
      </p:sp>
      <p:pic>
        <p:nvPicPr>
          <p:cNvPr id="5" name="Picture 4" descr="nexo-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73152"/>
            <a:ext cx="1874519" cy="5623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234440"/>
            <a:ext cx="557784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62033"/>
                </a:solidFill>
                <a:latin typeface="Segoe UI"/>
              </a:defRPr>
            </a:pPr>
            <a:r>
              <a:t>Relatórios financeiros e operacionais.</a:t>
            </a:r>
          </a:p>
          <a:p>
            <a:pPr>
              <a:spcAft>
                <a:spcPts val="800"/>
              </a:spcAft>
              <a:defRPr sz="1700">
                <a:solidFill>
                  <a:srgbClr val="162033"/>
                </a:solidFill>
                <a:latin typeface="Segoe UI"/>
              </a:defRPr>
            </a:pPr>
            <a:r>
              <a:t>Relatórios por benefício.</a:t>
            </a:r>
          </a:p>
          <a:p>
            <a:pPr>
              <a:spcAft>
                <a:spcPts val="800"/>
              </a:spcAft>
              <a:defRPr sz="1700">
                <a:solidFill>
                  <a:srgbClr val="162033"/>
                </a:solidFill>
                <a:latin typeface="Segoe UI"/>
              </a:defRPr>
            </a:pPr>
            <a:r>
              <a:t>Relatório de afastamento.</a:t>
            </a:r>
          </a:p>
          <a:p>
            <a:pPr>
              <a:spcAft>
                <a:spcPts val="800"/>
              </a:spcAft>
              <a:defRPr sz="1700">
                <a:solidFill>
                  <a:srgbClr val="162033"/>
                </a:solidFill>
                <a:latin typeface="Segoe UI"/>
              </a:defRPr>
            </a:pPr>
            <a:r>
              <a:t>Filtros básicos no topo de cada relatório.</a:t>
            </a:r>
          </a:p>
          <a:p>
            <a:pPr>
              <a:spcAft>
                <a:spcPts val="800"/>
              </a:spcAft>
              <a:defRPr sz="1700">
                <a:solidFill>
                  <a:srgbClr val="162033"/>
                </a:solidFill>
                <a:latin typeface="Segoe UI"/>
              </a:defRPr>
            </a:pPr>
            <a:r>
              <a:t>Modelos personalizados salvos no Relatório Maker.</a:t>
            </a:r>
          </a:p>
          <a:p>
            <a:pPr>
              <a:spcAft>
                <a:spcPts val="800"/>
              </a:spcAft>
              <a:defRPr sz="1700">
                <a:solidFill>
                  <a:srgbClr val="162033"/>
                </a:solidFill>
                <a:latin typeface="Segoe UI"/>
              </a:defRPr>
            </a:pPr>
            <a:r>
              <a:t>Busca por texto em relatórios salvos.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508760"/>
            <a:ext cx="4343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22007" y="1691639"/>
            <a:ext cx="3941063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Segoe UI"/>
              </a:rPr>
              <a:t>Diferencial comercial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2007" y="2039112"/>
            <a:ext cx="3941063" cy="86868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O Relatório Maker dá liberdade para combinar campos, filtros e totais sem pedir uma tela nova a cada necessidade.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3520440"/>
            <a:ext cx="4343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22007" y="3703320"/>
            <a:ext cx="3941063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Segoe UI"/>
              </a:rPr>
              <a:t>Uso futuro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2007" y="4050791"/>
            <a:ext cx="3941063" cy="86868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Essa base abre caminho para exportações avançadas, dashboards customizados e rotinas de análise recorrentes.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046720" cy="3200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Controle operacional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8046720" cy="2743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500" b="0">
                <a:solidFill>
                  <a:srgbClr val="687386"/>
                </a:solidFill>
                <a:latin typeface="Segoe UI"/>
              </a:rPr>
              <a:t>Lembretes e rastreabilidade para reduzir risco.</a:t>
            </a:r>
          </a:p>
        </p:txBody>
      </p:sp>
      <p:pic>
        <p:nvPicPr>
          <p:cNvPr id="5" name="Picture 4" descr="nexo-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73152"/>
            <a:ext cx="1874519" cy="5623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325880"/>
            <a:ext cx="548640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Contratos MEI com vigência, assinatura e anexo.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Alertas de férias, afastamentos, contratos e ajustes pendentes.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Severidade visual: baixa, média e alta.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Movimentações com edição protegida por senha.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Auditoria/logs para saber quem fez cada alteração.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463040"/>
            <a:ext cx="4526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30568" y="1645920"/>
            <a:ext cx="4123944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</a:rPr>
              <a:t>Administração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0568" y="1993392"/>
            <a:ext cx="4123944" cy="9144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Ajustes do sistema concentra usuários, cargos, empresas, CRs, modalidades, logo, importação e backup.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3611880"/>
            <a:ext cx="4526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0568" y="3794760"/>
            <a:ext cx="4123944" cy="256032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Governança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4142232"/>
            <a:ext cx="4123944" cy="9144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200" b="0">
                <a:solidFill>
                  <a:srgbClr val="687386"/>
                </a:solidFill>
                <a:latin typeface="Segoe UI"/>
              </a:rPr>
              <a:t>A informação deixa de depender apenas da memória do usuário e passa a ter registro e alerta.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046720" cy="3200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O que está incluso nos R$ 4.000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8046720" cy="2743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500" b="0">
                <a:solidFill>
                  <a:srgbClr val="687386"/>
                </a:solidFill>
                <a:latin typeface="Segoe UI"/>
              </a:rPr>
              <a:t>Composição da entrega inicial.</a:t>
            </a:r>
          </a:p>
        </p:txBody>
      </p:sp>
      <p:pic>
        <p:nvPicPr>
          <p:cNvPr id="5" name="Picture 4" descr="nexo-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73152"/>
            <a:ext cx="1874519" cy="5623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234440"/>
            <a:ext cx="640080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MVP funcional com modo demo.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Aplicativo Windows portable sem backend.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Build web estático para publicação.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Base real preservada com FastAPI e PostgreSQL.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Documentação de execução e apresentação.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Código versionado no GitHub.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Segoe UI"/>
              </a:defRPr>
            </a:pPr>
            <a:r>
              <a:t>Material comercial e apresentação para validação.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46304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0" y="1591056"/>
            <a:ext cx="1783080" cy="201168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900" b="1">
                <a:solidFill>
                  <a:srgbClr val="687386"/>
                </a:solidFill>
                <a:latin typeface="Segoe UI"/>
              </a:rPr>
              <a:t>PROPOSTA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1874520"/>
            <a:ext cx="1783080" cy="329184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Segoe UI"/>
              </a:rPr>
              <a:t>R$ 4.000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69748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2825496"/>
            <a:ext cx="1783080" cy="201168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900" b="1">
                <a:solidFill>
                  <a:srgbClr val="687386"/>
                </a:solidFill>
                <a:latin typeface="Segoe UI"/>
              </a:rPr>
              <a:t>SUGESTÃO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3108960"/>
            <a:ext cx="1783080" cy="329184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Segoe UI"/>
              </a:rPr>
              <a:t>50% + 50%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93192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4059935"/>
            <a:ext cx="1783080" cy="201168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900" b="1">
                <a:solidFill>
                  <a:srgbClr val="687386"/>
                </a:solidFill>
                <a:latin typeface="Segoe UI"/>
              </a:rPr>
              <a:t>FASE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4343400"/>
            <a:ext cx="1783080" cy="329184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Segoe UI"/>
              </a:rPr>
              <a:t>MVP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8046720" cy="3200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Fora do escopo inicial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8046720" cy="2743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500" b="0">
                <a:solidFill>
                  <a:srgbClr val="687386"/>
                </a:solidFill>
                <a:latin typeface="Segoe UI"/>
              </a:rPr>
              <a:t>Itens importantes, mas recomendados para fases futuras.</a:t>
            </a:r>
          </a:p>
        </p:txBody>
      </p:sp>
      <p:pic>
        <p:nvPicPr>
          <p:cNvPr id="5" name="Picture 4" descr="nexo-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73152"/>
            <a:ext cx="1874519" cy="5623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234440"/>
            <a:ext cx="9784080" cy="37490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62033"/>
                </a:solidFill>
                <a:latin typeface="Segoe UI"/>
              </a:defRPr>
            </a:pPr>
            <a:r>
              <a:t>Geração oficial completa de folha.</a:t>
            </a:r>
          </a:p>
          <a:p>
            <a:pPr>
              <a:spcAft>
                <a:spcPts val="800"/>
              </a:spcAft>
              <a:defRPr sz="1900">
                <a:solidFill>
                  <a:srgbClr val="162033"/>
                </a:solidFill>
                <a:latin typeface="Segoe UI"/>
              </a:defRPr>
            </a:pPr>
            <a:r>
              <a:t>eSocial, integração bancária ou assinatura digital real.</a:t>
            </a:r>
          </a:p>
          <a:p>
            <a:pPr>
              <a:spcAft>
                <a:spcPts val="800"/>
              </a:spcAft>
              <a:defRPr sz="1900">
                <a:solidFill>
                  <a:srgbClr val="162033"/>
                </a:solidFill>
                <a:latin typeface="Segoe UI"/>
              </a:defRPr>
            </a:pPr>
            <a:r>
              <a:t>Instalador Windows definitivo com serviço local.</a:t>
            </a:r>
          </a:p>
          <a:p>
            <a:pPr>
              <a:spcAft>
                <a:spcPts val="800"/>
              </a:spcAft>
              <a:defRPr sz="1900">
                <a:solidFill>
                  <a:srgbClr val="162033"/>
                </a:solidFill>
                <a:latin typeface="Segoe UI"/>
              </a:defRPr>
            </a:pPr>
            <a:r>
              <a:t>Importação definitiva da planilha do cliente.</a:t>
            </a:r>
          </a:p>
          <a:p>
            <a:pPr>
              <a:spcAft>
                <a:spcPts val="800"/>
              </a:spcAft>
              <a:defRPr sz="1900">
                <a:solidFill>
                  <a:srgbClr val="162033"/>
                </a:solidFill>
                <a:latin typeface="Segoe UI"/>
              </a:defRPr>
            </a:pPr>
            <a:r>
              <a:t>Integrações com sistemas externos.</a:t>
            </a:r>
          </a:p>
          <a:p>
            <a:pPr>
              <a:spcAft>
                <a:spcPts val="800"/>
              </a:spcAft>
              <a:defRPr sz="1900">
                <a:solidFill>
                  <a:srgbClr val="162033"/>
                </a:solidFill>
                <a:latin typeface="Segoe UI"/>
              </a:defRPr>
            </a:pPr>
            <a:r>
              <a:t>Hospedagem e operação em produção.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9692640" cy="5029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700" b="1">
                <a:solidFill>
                  <a:srgbClr val="173B67"/>
                </a:solidFill>
                <a:latin typeface="Segoe UI"/>
              </a:rPr>
              <a:t>Esse recorte protege o orçamento inicial e entrega valor rápido, sem travar o produto em uma primeira fase grande demais.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6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o-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94360"/>
            <a:ext cx="365760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011680"/>
            <a:ext cx="5029200" cy="5029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Próximo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685800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Validar a demo com o cliente.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Fechar o MVP por R$ 4.000,00.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Aprovar ajustes finais de fluxo.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Planejar implantação real e próximas fases.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6400800" cy="3200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pPr algn="l"/>
            <a:r>
              <a:rPr sz="1400" b="0">
                <a:solidFill>
                  <a:srgbClr val="D9E3EF"/>
                </a:solidFill>
                <a:latin typeface="Segoe UI"/>
              </a:rPr>
              <a:t>Nexo: o elo entre pessoas, custos e decisões.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