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800000" y="1050000"/>
            <a:ext cx="105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5200" b="1">
                <a:solidFill>
                  <a:srgbClr val="FFFFFF"/>
                </a:solidFill>
              </a:rPr>
              <a:t>Nexo</a:t>
            </a:r>
            <a:endParaRPr lang="pt-BR" sz="52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820000" y="1950000"/>
            <a:ext cx="96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>
                <a:solidFill>
                  <a:srgbClr val="D9E3EF"/>
                </a:solidFill>
              </a:rPr>
              <a:t>Controle de pessoas, custos e indicadores</a:t>
            </a:r>
            <a:endParaRPr lang="pt-BR" sz="26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900000" y="3100000"/>
            <a:ext cx="98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200">
                <a:solidFill>
                  <a:srgbClr val="FFFFFF"/>
                </a:solidFill>
              </a:rPr>
              <a:t>? MVP funcional para reduzir depend?ncia de planilhas</a:t>
            </a:r>
            <a:endParaRPr lang="pt-BR" sz="220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900000" y="3620000"/>
            <a:ext cx="98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200">
                <a:solidFill>
                  <a:srgbClr val="FFFFFF"/>
                </a:solidFill>
              </a:rPr>
              <a:t>? Demo desktop e web com dados fict?cios</a:t>
            </a:r>
            <a:endParaRPr lang="pt-BR" sz="220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900000" y="4140000"/>
            <a:ext cx="98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200">
                <a:solidFill>
                  <a:srgbClr val="FFFFFF"/>
                </a:solidFill>
              </a:rPr>
              <a:t>? Proposta comercial: R$ 4.000,00</a:t>
            </a:r>
            <a:endParaRPr lang="pt-BR"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Objetivo do MVP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Organizar controle antes de automatizar folha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Centralizar colaboradores, empresas, custos e movimenta??es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Permitir leitura por empresa, compet?ncia e Centro de Resultado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Dar rastreabilidade para altera??es, justificativas e alertas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Preparar a base para evolu??es futuras com API e banco real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Multiempresas e estrutura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Vis?o consolidada e separada por empresa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Cadastro e sele??o de m?ltiplas empresas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Configura??es por empresa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Centros de Resultado ADM, IND, COM e DIR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Modalidades como CLT, MEI, pr?-labore, freelancer e outros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Colaboradores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Cadastro completo com valida??es importantes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CPF/CNPJ validado e duplicidade bloqueada durante o cadastro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Matr?cula autom?tica por Centro de Resultado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Supervisor por lista suspensa e cargos configur?veis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Endere?o por CEP, dados banc?rios e PIX obrigat?rio</a:t>
            </a:r>
            <a:endParaRPr lang="pt-BR" sz="2050"/>
          </a:p>
        </p:txBody>
      </p:sp>
      <p:sp>
        <p:nvSpPr>
          <p:cNvPr id="14" name="Bullet 5"/>
          <p:cNvSpPr>
            <a:spLocks noGrp="1"/>
          </p:cNvSpPr>
          <p:nvPr/>
        </p:nvSpPr>
        <p:spPr>
          <a:xfrm>
            <a:off x="820000" y="43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Hist?ricos de sal?rio, f?rias, afastamentos e movimenta??es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Custo / Folha gerencial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Controle financeiro sem gerar folha oficial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Tabela por colaborador, CR e modalidade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Separa??o entre remunera??es, benef?cios, encargos e provis?es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Modo de edi??o controlado para campos permitidos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Exporta??o para Excel</a:t>
            </a:r>
            <a:endParaRPr lang="pt-BR" sz="2050"/>
          </a:p>
        </p:txBody>
      </p:sp>
      <p:sp>
        <p:nvSpPr>
          <p:cNvPr id="14" name="Bullet 5"/>
          <p:cNvSpPr>
            <a:spLocks noGrp="1"/>
          </p:cNvSpPr>
          <p:nvPr/>
        </p:nvSpPr>
        <p:spPr>
          <a:xfrm>
            <a:off x="820000" y="43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Valores de benef?cios alimentam o custo/folha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Benef?cios e fechamento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Distribui??o em lote ou individual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Vale transporte, alimenta??o, plano de sa?de e seguro de vida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Filtros por compet?ncia, modalidade, UF, CR e supervisor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Dias e valores ajust?veis por colaborador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Plano de sa?de com dependente e valor de dependente</a:t>
            </a:r>
            <a:endParaRPr lang="pt-BR" sz="2050"/>
          </a:p>
        </p:txBody>
      </p:sp>
      <p:sp>
        <p:nvSpPr>
          <p:cNvPr id="14" name="Bullet 5"/>
          <p:cNvSpPr>
            <a:spLocks noGrp="1"/>
          </p:cNvSpPr>
          <p:nvPr/>
        </p:nvSpPr>
        <p:spPr>
          <a:xfrm>
            <a:off x="820000" y="43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Fechamento alerta pend?ncias e exige justificativa quando necess?rio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Indicadores e relat?rios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Leitura gerencial baseada na planilha do cliente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Indicadores de custo, faturamento, turnover e absente?smo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Compara??o por Centro de Resultado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Relat?rios financeiros e de benef?cios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Relat?rio de afastamentos</a:t>
            </a:r>
            <a:endParaRPr lang="pt-BR" sz="2050"/>
          </a:p>
        </p:txBody>
      </p:sp>
      <p:sp>
        <p:nvSpPr>
          <p:cNvPr id="14" name="Bullet 5"/>
          <p:cNvSpPr>
            <a:spLocks noGrp="1"/>
          </p:cNvSpPr>
          <p:nvPr/>
        </p:nvSpPr>
        <p:spPr>
          <a:xfrm>
            <a:off x="820000" y="43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Relat?rio Maker com modelos salvos e filtros por per?odo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Controle e administra??o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?rea administrativa para manter o sistema organizado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Alertas de f?rias, afastamentos e contratos MEI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Controle de contratos MEI com assinatura e anexo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Auditoria e logs de altera??es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Cadastro de usu?rios em Ajustes do sistema</a:t>
            </a:r>
            <a:endParaRPr lang="pt-BR" sz="2050"/>
          </a:p>
        </p:txBody>
      </p:sp>
      <p:sp>
        <p:nvSpPr>
          <p:cNvPr id="14" name="Bullet 5"/>
          <p:cNvSpPr>
            <a:spLocks noGrp="1"/>
          </p:cNvSpPr>
          <p:nvPr/>
        </p:nvSpPr>
        <p:spPr>
          <a:xfrm>
            <a:off x="820000" y="43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Backup, importa??o e logo da empresa em configura??es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/>
        </p:nvSpPr>
        <p:spPr>
          <a:xfrm>
            <a:off x="0" y="0"/>
            <a:ext cx="12192000" cy="700000"/>
          </a:xfrm>
          <a:prstGeom prst="rect">
            <a:avLst/>
          </a:prstGeom>
          <a:solidFill>
            <a:srgbClr val="173B67"/>
          </a:solidFill>
          <a:ln>
            <a:noFill/>
          </a:ln>
        </p:spPr>
        <p:txBody>
          <a:bodyPr wrap="square"/>
          <a:lstStyle/>
          <a:p>
            <a:pPr marL="0" indent="0"/>
            <a:r>
              <a:rPr lang="pt-BR" sz="100">
                <a:solidFill>
                  <a:srgbClr val="162033"/>
                </a:solidFill>
              </a:rPr>
              <a:t/>
            </a:r>
            <a:endParaRPr lang="pt-BR" sz="100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520000" y="155000"/>
            <a:ext cx="8500000" cy="3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600" b="1">
                <a:solidFill>
                  <a:srgbClr val="FFFFFF"/>
                </a:solidFill>
              </a:rPr>
              <a:t>Proposta de fechamento</a:t>
            </a:r>
            <a:endParaRPr lang="pt-BR" sz="2600"/>
          </a:p>
        </p:txBody>
      </p:sp>
      <p:sp>
        <p:nvSpPr>
          <p:cNvPr id="4" name="Subtitle"/>
          <p:cNvSpPr>
            <a:spLocks noGrp="1"/>
          </p:cNvSpPr>
          <p:nvPr/>
        </p:nvSpPr>
        <p:spPr>
          <a:xfrm>
            <a:off x="620000" y="98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500" b="1">
                <a:solidFill>
                  <a:srgbClr val="173B67"/>
                </a:solidFill>
              </a:rPr>
              <a:t>Investimento sugerido: R$ 4.000,00</a:t>
            </a:r>
            <a:endParaRPr lang="pt-BR" sz="2500"/>
          </a:p>
        </p:txBody>
      </p:sp>
      <p:sp>
        <p:nvSpPr>
          <p:cNvPr id="10" name="Bullet 1"/>
          <p:cNvSpPr>
            <a:spLocks noGrp="1"/>
          </p:cNvSpPr>
          <p:nvPr/>
        </p:nvSpPr>
        <p:spPr>
          <a:xfrm>
            <a:off x="820000" y="17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Inclui MVP funcional, demo web e aplicativo Windows portable</a:t>
            </a:r>
            <a:endParaRPr lang="pt-BR" sz="2050"/>
          </a:p>
        </p:txBody>
      </p:sp>
      <p:sp>
        <p:nvSpPr>
          <p:cNvPr id="11" name="Bullet 2"/>
          <p:cNvSpPr>
            <a:spLocks noGrp="1"/>
          </p:cNvSpPr>
          <p:nvPr/>
        </p:nvSpPr>
        <p:spPr>
          <a:xfrm>
            <a:off x="820000" y="24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Inclui organiza??o da base t?cnica para evolu??o real</a:t>
            </a:r>
            <a:endParaRPr lang="pt-BR" sz="2050"/>
          </a:p>
        </p:txBody>
      </p:sp>
      <p:sp>
        <p:nvSpPr>
          <p:cNvPr id="12" name="Bullet 3"/>
          <p:cNvSpPr>
            <a:spLocks noGrp="1"/>
          </p:cNvSpPr>
          <p:nvPr/>
        </p:nvSpPr>
        <p:spPr>
          <a:xfrm>
            <a:off x="820000" y="308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Sugest?o: 50% na aprova??o e 50% na entrega validada</a:t>
            </a:r>
            <a:endParaRPr lang="pt-BR" sz="2050"/>
          </a:p>
        </p:txBody>
      </p:sp>
      <p:sp>
        <p:nvSpPr>
          <p:cNvPr id="13" name="Bullet 4"/>
          <p:cNvSpPr>
            <a:spLocks noGrp="1"/>
          </p:cNvSpPr>
          <p:nvPr/>
        </p:nvSpPr>
        <p:spPr>
          <a:xfrm>
            <a:off x="820000" y="3730000"/>
            <a:ext cx="10300000" cy="44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2050">
                <a:solidFill>
                  <a:srgbClr val="162033"/>
                </a:solidFill>
              </a:rPr>
              <a:t>? Evolu??es futuras podem ser or?adas por m?dulo ou pacote mensal</a:t>
            </a:r>
            <a:endParaRPr lang="pt-BR" sz="2050"/>
          </a:p>
        </p:txBody>
      </p:sp>
      <p:sp>
        <p:nvSpPr>
          <p:cNvPr id="40" name="Footer"/>
          <p:cNvSpPr>
            <a:spLocks noGrp="1"/>
          </p:cNvSpPr>
          <p:nvPr/>
        </p:nvSpPr>
        <p:spPr>
          <a:xfrm>
            <a:off x="8800000" y="6250000"/>
            <a:ext cx="27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/>
            <a:r>
              <a:rPr lang="pt-BR" sz="1200">
                <a:solidFill>
                  <a:srgbClr val="687386"/>
                </a:solidFill>
              </a:rPr>
              <a:t>Nexo | MVP Comercial</a:t>
            </a:r>
            <a:endParaRPr lang="pt-BR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xo Theme">
  <a:themeElements>
    <a:clrScheme name="Nexo">
      <a:dk1>
        <a:srgbClr val="162033"/>
      </a:dk1>
      <a:lt1>
        <a:srgbClr val="FFFFFF"/>
      </a:lt1>
      <a:dk2>
        <a:srgbClr val="173B67"/>
      </a:dk2>
      <a:lt2>
        <a:srgbClr val="F4F6F9"/>
      </a:lt2>
      <a:accent1>
        <a:srgbClr val="173B67"/>
      </a:accent1>
      <a:accent2>
        <a:srgbClr val="2563EB"/>
      </a:accent2>
      <a:accent3>
        <a:srgbClr val="10B981"/>
      </a:accent3>
      <a:accent4>
        <a:srgbClr val="F59E0B"/>
      </a:accent4>
      <a:accent5>
        <a:srgbClr val="8B5CF6"/>
      </a:accent5>
      <a:accent6>
        <a:srgbClr val="687386"/>
      </a:accent6>
      <a:hlink>
        <a:srgbClr val="2563EB"/>
      </a:hlink>
      <a:folHlink>
        <a:srgbClr val="8B5CF6"/>
      </a:folHlink>
    </a:clrScheme>
    <a:fontScheme name="Nexo">
      <a:majorFont>
        <a:latin typeface="Segoe UI"/>
      </a:majorFont>
      <a:minorFont>
        <a:latin typeface="Segoe UI"/>
      </a:minorFont>
    </a:fontScheme>
    <a:fmtScheme name="Nexo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